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9144000"/>
  <p:embeddedFontLst>
    <p:embeddedFont>
      <p:font typeface="Roboto"/>
      <p:regular r:id="rId16"/>
      <p:bold r:id="rId17"/>
      <p:italic r:id="rId18"/>
      <p:boldItalic r:id="rId19"/>
    </p:embeddedFont>
    <p:embeddedFont>
      <p:font typeface="Roboto Medium"/>
      <p:regular r:id="rId20"/>
      <p:bold r:id="rId21"/>
      <p:italic r:id="rId22"/>
      <p:boldItalic r:id="rId23"/>
    </p:embeddedFont>
    <p:embeddedFont>
      <p:font typeface="Rajdhani"/>
      <p:regular r:id="rId24"/>
      <p:bold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edium-regular.fntdata"/><Relationship Id="rId22" Type="http://schemas.openxmlformats.org/officeDocument/2006/relationships/font" Target="fonts/RobotoMedium-italic.fntdata"/><Relationship Id="rId21" Type="http://schemas.openxmlformats.org/officeDocument/2006/relationships/font" Target="fonts/RobotoMedium-bold.fntdata"/><Relationship Id="rId24" Type="http://schemas.openxmlformats.org/officeDocument/2006/relationships/font" Target="fonts/Rajdhani-regular.fntdata"/><Relationship Id="rId23" Type="http://schemas.openxmlformats.org/officeDocument/2006/relationships/font" Target="fonts/RobotoMedium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Rajdhani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-bold.fntdata"/><Relationship Id="rId16" Type="http://schemas.openxmlformats.org/officeDocument/2006/relationships/font" Target="fonts/Roboto-regular.fntdata"/><Relationship Id="rId19" Type="http://schemas.openxmlformats.org/officeDocument/2006/relationships/font" Target="fonts/Roboto-boldItalic.fntdata"/><Relationship Id="rId18" Type="http://schemas.openxmlformats.org/officeDocument/2006/relationships/font" Target="fonts/Roboto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b8f5288da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g3b8f5288da0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18.png"/><Relationship Id="rId6" Type="http://schemas.openxmlformats.org/officeDocument/2006/relationships/image" Target="../media/image13.png"/><Relationship Id="rId7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5" Type="http://schemas.openxmlformats.org/officeDocument/2006/relationships/image" Target="../media/image25.jpg"/><Relationship Id="rId6" Type="http://schemas.openxmlformats.org/officeDocument/2006/relationships/image" Target="../media/image10.png"/><Relationship Id="rId7" Type="http://schemas.openxmlformats.org/officeDocument/2006/relationships/image" Target="../media/image8.png"/><Relationship Id="rId8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5" Type="http://schemas.openxmlformats.org/officeDocument/2006/relationships/image" Target="../media/image16.png"/><Relationship Id="rId6" Type="http://schemas.openxmlformats.org/officeDocument/2006/relationships/image" Target="../media/image15.png"/><Relationship Id="rId7" Type="http://schemas.openxmlformats.org/officeDocument/2006/relationships/image" Target="../media/image1.png"/><Relationship Id="rId8" Type="http://schemas.openxmlformats.org/officeDocument/2006/relationships/image" Target="../media/image1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17.png"/><Relationship Id="rId11" Type="http://schemas.openxmlformats.org/officeDocument/2006/relationships/image" Target="../media/image31.png"/><Relationship Id="rId10" Type="http://schemas.openxmlformats.org/officeDocument/2006/relationships/image" Target="../media/image24.png"/><Relationship Id="rId12" Type="http://schemas.openxmlformats.org/officeDocument/2006/relationships/image" Target="../media/image30.png"/><Relationship Id="rId9" Type="http://schemas.openxmlformats.org/officeDocument/2006/relationships/image" Target="../media/image41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34.png"/><Relationship Id="rId11" Type="http://schemas.openxmlformats.org/officeDocument/2006/relationships/image" Target="../media/image36.png"/><Relationship Id="rId10" Type="http://schemas.openxmlformats.org/officeDocument/2006/relationships/image" Target="../media/image37.png"/><Relationship Id="rId9" Type="http://schemas.openxmlformats.org/officeDocument/2006/relationships/image" Target="../media/image29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20.png"/><Relationship Id="rId8" Type="http://schemas.openxmlformats.org/officeDocument/2006/relationships/image" Target="../media/image3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Relationship Id="rId6" Type="http://schemas.openxmlformats.org/officeDocument/2006/relationships/image" Target="../media/image42.png"/><Relationship Id="rId7" Type="http://schemas.openxmlformats.org/officeDocument/2006/relationships/image" Target="../media/image3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4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40.png"/><Relationship Id="rId5" Type="http://schemas.openxmlformats.org/officeDocument/2006/relationships/image" Target="../media/image43.png"/><Relationship Id="rId6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33762" y="3305175"/>
            <a:ext cx="5324475" cy="59055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66C0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2185511" y="2143125"/>
            <a:ext cx="7820977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rPr>
              <a:t>TRUE PRICE </a:t>
            </a:r>
            <a:r>
              <a:rPr b="1" i="0" lang="en-US" sz="6000" u="none" cap="none" strike="noStrike">
                <a:solidFill>
                  <a:srgbClr val="66C0F4"/>
                </a:solidFill>
                <a:latin typeface="Rajdhani"/>
                <a:ea typeface="Rajdhani"/>
                <a:cs typeface="Rajdhani"/>
                <a:sym typeface="Rajdhani"/>
              </a:rPr>
              <a:t>AUTHORITY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4481512" y="4276725"/>
            <a:ext cx="32289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6C0F4"/>
                </a:solidFill>
                <a:latin typeface="Roboto"/>
                <a:ea typeface="Roboto"/>
                <a:cs typeface="Roboto"/>
                <a:sym typeface="Roboto"/>
              </a:rPr>
              <a:t>STRATÉGIE DE LANCEMENT |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66C0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762000" y="609600"/>
            <a:ext cx="5000625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rPr>
              <a:t>MISSION : </a:t>
            </a:r>
            <a:r>
              <a:rPr b="1" i="0" lang="en-US" sz="3600" u="none" cap="none" strike="noStrike">
                <a:solidFill>
                  <a:srgbClr val="66C0F4"/>
                </a:solidFill>
                <a:latin typeface="Rajdhani"/>
                <a:ea typeface="Rajdhani"/>
                <a:cs typeface="Rajdhani"/>
                <a:sym typeface="Rajdhani"/>
              </a:rPr>
              <a:t>LA VÉRITÉ</a:t>
            </a:r>
            <a:endParaRPr/>
          </a:p>
        </p:txBody>
      </p:sp>
      <p:sp>
        <p:nvSpPr>
          <p:cNvPr id="96" name="Google Shape;96;p14"/>
          <p:cNvSpPr/>
          <p:nvPr/>
        </p:nvSpPr>
        <p:spPr>
          <a:xfrm>
            <a:off x="571500" y="609600"/>
            <a:ext cx="76200" cy="590550"/>
          </a:xfrm>
          <a:prstGeom prst="rect">
            <a:avLst/>
          </a:prstGeom>
          <a:solidFill>
            <a:srgbClr val="66C0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97" name="Google Shape;9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3810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571500" y="2009775"/>
            <a:ext cx="49530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Objectif : </a:t>
            </a:r>
            <a:r>
              <a:rPr lang="en-US" sz="15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Auditer la réalité via le CONTRÔLE QUALITÉ</a:t>
            </a:r>
            <a:r>
              <a:rPr b="0" i="0" lang="en-US" sz="150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 et devenir l'Autorité de Confiance.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1047750" y="3019425"/>
            <a:ext cx="44767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7D5E0"/>
                </a:solidFill>
                <a:latin typeface="Roboto"/>
                <a:ea typeface="Roboto"/>
                <a:cs typeface="Roboto"/>
                <a:sym typeface="Roboto"/>
              </a:rPr>
              <a:t>Audit Comparateurs :</a:t>
            </a:r>
            <a:r>
              <a:rPr b="0" i="0" lang="en-US" sz="1650" u="none" cap="none" strike="noStrike">
                <a:solidFill>
                  <a:srgbClr val="C7D5E0"/>
                </a:solidFill>
                <a:latin typeface="Roboto"/>
                <a:ea typeface="Roboto"/>
                <a:cs typeface="Roboto"/>
                <a:sym typeface="Roboto"/>
              </a:rPr>
              <a:t> Qui affiche le vrai prix ? Qui cache les frais ?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1047750" y="3886200"/>
            <a:ext cx="4476750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7D5E0"/>
                </a:solidFill>
                <a:latin typeface="Roboto"/>
                <a:ea typeface="Roboto"/>
                <a:cs typeface="Roboto"/>
                <a:sym typeface="Roboto"/>
              </a:rPr>
              <a:t>Intégrité Vendeurs :</a:t>
            </a:r>
            <a:r>
              <a:rPr b="0" i="0" lang="en-US" sz="1650" u="none" cap="none" strike="noStrike">
                <a:solidFill>
                  <a:srgbClr val="C7D5E0"/>
                </a:solidFill>
                <a:latin typeface="Roboto"/>
                <a:ea typeface="Roboto"/>
                <a:cs typeface="Roboto"/>
                <a:sym typeface="Roboto"/>
              </a:rPr>
              <a:t> Détection des fausses promos et frais cachés. Output : "Scam Alert" vs "Honest Vendor".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1047750" y="5067300"/>
            <a:ext cx="44767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7D5E0"/>
                </a:solidFill>
                <a:latin typeface="Roboto"/>
                <a:ea typeface="Roboto"/>
                <a:cs typeface="Roboto"/>
                <a:sym typeface="Roboto"/>
              </a:rPr>
              <a:t>Crash-Test Coupons :</a:t>
            </a:r>
            <a:r>
              <a:rPr b="0" i="0" lang="en-US" sz="1650" u="none" cap="none" strike="noStrike">
                <a:solidFill>
                  <a:srgbClr val="C7D5E0"/>
                </a:solidFill>
                <a:latin typeface="Roboto"/>
                <a:ea typeface="Roboto"/>
                <a:cs typeface="Roboto"/>
                <a:sym typeface="Roboto"/>
              </a:rPr>
              <a:t> Vérification manuelle. Le code est-il valide ou fictif ?</a:t>
            </a:r>
            <a:endParaRPr/>
          </a:p>
        </p:txBody>
      </p:sp>
      <p:pic>
        <p:nvPicPr>
          <p:cNvPr descr="image.png" id="102" name="Google Shape;102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048000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914775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5095875"/>
            <a:ext cx="25717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9" name="Google Shape;10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028825"/>
            <a:ext cx="5334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66C0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5"/>
          <p:cNvSpPr txBox="1"/>
          <p:nvPr/>
        </p:nvSpPr>
        <p:spPr>
          <a:xfrm>
            <a:off x="476250" y="2000250"/>
            <a:ext cx="56007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66C0F4"/>
                </a:solidFill>
                <a:latin typeface="Rajdhani"/>
                <a:ea typeface="Rajdhani"/>
                <a:cs typeface="Rajdhani"/>
                <a:sym typeface="Rajdhani"/>
              </a:rPr>
              <a:t>IGRAAL VS DIRECT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476250" y="2409825"/>
            <a:ext cx="53340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7D5E0"/>
                </a:solidFill>
                <a:latin typeface="Roboto"/>
                <a:ea typeface="Roboto"/>
                <a:cs typeface="Roboto"/>
                <a:sym typeface="Roboto"/>
              </a:rPr>
              <a:t>Analyse comparative des opportunités de remboursement pour maximiser le pouvoir d'achat du gamer.</a:t>
            </a:r>
            <a:endParaRPr/>
          </a:p>
        </p:txBody>
      </p:sp>
      <p:pic>
        <p:nvPicPr>
          <p:cNvPr id="114" name="Google Shape;114;p15" title="Untitled.jpg"/>
          <p:cNvPicPr preferRelativeResize="0"/>
          <p:nvPr/>
        </p:nvPicPr>
        <p:blipFill rotWithShape="1">
          <a:blip r:embed="rId5">
            <a:alphaModFix/>
          </a:blip>
          <a:srcRect b="14336" l="0" r="0" t="14336"/>
          <a:stretch/>
        </p:blipFill>
        <p:spPr>
          <a:xfrm>
            <a:off x="6391275" y="2038350"/>
            <a:ext cx="5314949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952500" y="3267075"/>
            <a:ext cx="48579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7D5E0"/>
                </a:solidFill>
                <a:latin typeface="Roboto"/>
                <a:ea typeface="Roboto"/>
                <a:cs typeface="Roboto"/>
                <a:sym typeface="Roboto"/>
              </a:rPr>
              <a:t>Comparaison Directe :</a:t>
            </a:r>
            <a:r>
              <a:rPr b="0" i="0" lang="en-US" sz="1650" u="none" cap="none" strike="noStrike">
                <a:solidFill>
                  <a:srgbClr val="C7D5E0"/>
                </a:solidFill>
                <a:latin typeface="Roboto"/>
                <a:ea typeface="Roboto"/>
                <a:cs typeface="Roboto"/>
                <a:sym typeface="Roboto"/>
              </a:rPr>
              <a:t> Offres exclusives marchands vs Plateformes tierces (iGraal).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952500" y="4133850"/>
            <a:ext cx="48579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7D5E0"/>
                </a:solidFill>
                <a:latin typeface="Roboto"/>
                <a:ea typeface="Roboto"/>
                <a:cs typeface="Roboto"/>
                <a:sym typeface="Roboto"/>
              </a:rPr>
              <a:t>Marchands Ciblés :</a:t>
            </a:r>
            <a:r>
              <a:rPr b="0" i="0" lang="en-US" sz="1650" u="none" cap="none" strike="noStrike">
                <a:solidFill>
                  <a:srgbClr val="C7D5E0"/>
                </a:solidFill>
                <a:latin typeface="Roboto"/>
                <a:ea typeface="Roboto"/>
                <a:cs typeface="Roboto"/>
                <a:sym typeface="Roboto"/>
              </a:rPr>
              <a:t> Eneba, </a:t>
            </a:r>
            <a:r>
              <a:rPr lang="en-US" sz="1650">
                <a:solidFill>
                  <a:srgbClr val="C7D5E0"/>
                </a:solidFill>
                <a:latin typeface="Roboto"/>
                <a:ea typeface="Roboto"/>
                <a:cs typeface="Roboto"/>
                <a:sym typeface="Roboto"/>
              </a:rPr>
              <a:t>G2A</a:t>
            </a:r>
            <a:r>
              <a:rPr b="0" i="0" lang="en-US" sz="1650" u="none" cap="none" strike="noStrike">
                <a:solidFill>
                  <a:srgbClr val="C7D5E0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sz="1650">
                <a:solidFill>
                  <a:srgbClr val="C7D5E0"/>
                </a:solidFill>
                <a:latin typeface="Roboto"/>
                <a:ea typeface="Roboto"/>
                <a:cs typeface="Roboto"/>
                <a:sym typeface="Roboto"/>
              </a:rPr>
              <a:t>CDKEYS.COM(loaded)</a:t>
            </a:r>
            <a:r>
              <a:rPr b="0" i="0" lang="en-US" sz="1650" u="none" cap="none" strike="noStrike">
                <a:solidFill>
                  <a:srgbClr val="C7D5E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952500" y="5000625"/>
            <a:ext cx="48579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7D5E0"/>
                </a:solidFill>
                <a:latin typeface="Roboto"/>
                <a:ea typeface="Roboto"/>
                <a:cs typeface="Roboto"/>
                <a:sym typeface="Roboto"/>
              </a:rPr>
              <a:t>Objectif :</a:t>
            </a:r>
            <a:r>
              <a:rPr b="0" i="0" lang="en-US" sz="1650" u="none" cap="none" strike="noStrike">
                <a:solidFill>
                  <a:srgbClr val="C7D5E0"/>
                </a:solidFill>
                <a:latin typeface="Roboto"/>
                <a:ea typeface="Roboto"/>
                <a:cs typeface="Roboto"/>
                <a:sym typeface="Roboto"/>
              </a:rPr>
              <a:t> Identifier le "</a:t>
            </a:r>
            <a:r>
              <a:rPr lang="en-US" sz="1650">
                <a:solidFill>
                  <a:srgbClr val="C7D5E0"/>
                </a:solidFill>
                <a:latin typeface="Roboto"/>
                <a:ea typeface="Roboto"/>
                <a:cs typeface="Roboto"/>
                <a:sym typeface="Roboto"/>
              </a:rPr>
              <a:t>Vrai Prix</a:t>
            </a:r>
            <a:r>
              <a:rPr b="0" i="0" lang="en-US" sz="1650" u="none" cap="none" strike="noStrike">
                <a:solidFill>
                  <a:srgbClr val="C7D5E0"/>
                </a:solidFill>
                <a:latin typeface="Roboto"/>
                <a:ea typeface="Roboto"/>
                <a:cs typeface="Roboto"/>
                <a:sym typeface="Roboto"/>
              </a:rPr>
              <a:t>" final après déduction du cashback réel.</a:t>
            </a:r>
            <a:endParaRPr/>
          </a:p>
        </p:txBody>
      </p:sp>
      <p:pic>
        <p:nvPicPr>
          <p:cNvPr descr="image.png" id="118" name="Google Shape;118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6250" y="329565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6250" y="4162425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6250" y="5029200"/>
            <a:ext cx="25717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5"/>
          <p:cNvSpPr txBox="1"/>
          <p:nvPr/>
        </p:nvSpPr>
        <p:spPr>
          <a:xfrm>
            <a:off x="666750" y="514350"/>
            <a:ext cx="11525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rPr>
              <a:t>CASHBACK </a:t>
            </a:r>
            <a:r>
              <a:rPr b="1" i="0" lang="en-US" sz="3600" u="none" cap="none" strike="noStrike">
                <a:solidFill>
                  <a:srgbClr val="66C0F4"/>
                </a:solidFill>
                <a:latin typeface="Rajdhani"/>
                <a:ea typeface="Rajdhani"/>
                <a:cs typeface="Rajdhani"/>
                <a:sym typeface="Rajdhani"/>
              </a:rPr>
              <a:t>COMPARATOR</a:t>
            </a:r>
            <a:endParaRPr/>
          </a:p>
        </p:txBody>
      </p:sp>
      <p:sp>
        <p:nvSpPr>
          <p:cNvPr id="122" name="Google Shape;122;p15"/>
          <p:cNvSpPr/>
          <p:nvPr/>
        </p:nvSpPr>
        <p:spPr>
          <a:xfrm>
            <a:off x="476250" y="514350"/>
            <a:ext cx="76200" cy="590700"/>
          </a:xfrm>
          <a:prstGeom prst="rect">
            <a:avLst/>
          </a:prstGeom>
          <a:solidFill>
            <a:srgbClr val="66C0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7" name="Google Shape;12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028825"/>
            <a:ext cx="5334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66C0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6"/>
          <p:cNvSpPr txBox="1"/>
          <p:nvPr/>
        </p:nvSpPr>
        <p:spPr>
          <a:xfrm>
            <a:off x="476250" y="2000250"/>
            <a:ext cx="56007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66C0F4"/>
                </a:solidFill>
                <a:latin typeface="Rajdhani"/>
                <a:ea typeface="Rajdhani"/>
                <a:cs typeface="Rajdhani"/>
                <a:sym typeface="Rajdhani"/>
              </a:rPr>
              <a:t>L'USINE À CONTENU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476250" y="2409825"/>
            <a:ext cx="5334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7D5E0"/>
                </a:solidFill>
                <a:latin typeface="Roboto"/>
                <a:ea typeface="Roboto"/>
                <a:cs typeface="Roboto"/>
                <a:sym typeface="Roboto"/>
              </a:rPr>
              <a:t>La donnée ne vaut rien si elle n'est pas publiée. Nous transformons l'audit en influence.</a:t>
            </a:r>
            <a:endParaRPr/>
          </a:p>
        </p:txBody>
      </p:sp>
      <p:pic>
        <p:nvPicPr>
          <p:cNvPr descr="image.png" id="132" name="Google Shape;132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2038350"/>
            <a:ext cx="531495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>
            <a:off x="952500" y="3267075"/>
            <a:ext cx="48577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7D5E0"/>
                </a:solidFill>
                <a:latin typeface="Roboto"/>
                <a:ea typeface="Roboto"/>
                <a:cs typeface="Roboto"/>
                <a:sym typeface="Roboto"/>
              </a:rPr>
              <a:t>Viralité Hebdo :</a:t>
            </a:r>
            <a:r>
              <a:rPr b="0" i="0" lang="en-US" sz="1650" u="none" cap="none" strike="noStrike">
                <a:solidFill>
                  <a:srgbClr val="C7D5E0"/>
                </a:solidFill>
                <a:latin typeface="Roboto"/>
                <a:ea typeface="Roboto"/>
                <a:cs typeface="Roboto"/>
                <a:sym typeface="Roboto"/>
              </a:rPr>
              <a:t> Infographies "Le Baromètre du Mensonge" pour Discover.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952500" y="4133850"/>
            <a:ext cx="48577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7D5E0"/>
                </a:solidFill>
                <a:latin typeface="Roboto"/>
                <a:ea typeface="Roboto"/>
                <a:cs typeface="Roboto"/>
                <a:sym typeface="Roboto"/>
              </a:rPr>
              <a:t>Format Short :</a:t>
            </a:r>
            <a:r>
              <a:rPr b="0" i="0" lang="en-US" sz="1650" u="none" cap="none" strike="noStrike">
                <a:solidFill>
                  <a:srgbClr val="C7D5E0"/>
                </a:solidFill>
                <a:latin typeface="Roboto"/>
                <a:ea typeface="Roboto"/>
                <a:cs typeface="Roboto"/>
                <a:sym typeface="Roboto"/>
              </a:rPr>
              <a:t> "On a testé 5 vendeurs, voici le résultat".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952500" y="5000625"/>
            <a:ext cx="48577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7D5E0"/>
                </a:solidFill>
                <a:latin typeface="Roboto"/>
                <a:ea typeface="Roboto"/>
                <a:cs typeface="Roboto"/>
                <a:sym typeface="Roboto"/>
              </a:rPr>
              <a:t>Reviews Data-Driven :</a:t>
            </a:r>
            <a:r>
              <a:rPr b="0" i="0" lang="en-US" sz="1650" u="none" cap="none" strike="noStrike">
                <a:solidFill>
                  <a:srgbClr val="C7D5E0"/>
                </a:solidFill>
                <a:latin typeface="Roboto"/>
                <a:ea typeface="Roboto"/>
                <a:cs typeface="Roboto"/>
                <a:sym typeface="Roboto"/>
              </a:rPr>
              <a:t> Avis basés sur 50 tests mystères, pas juste du ressenti.</a:t>
            </a:r>
            <a:endParaRPr/>
          </a:p>
        </p:txBody>
      </p:sp>
      <p:pic>
        <p:nvPicPr>
          <p:cNvPr descr="image.png" id="136" name="Google Shape;136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6250" y="329565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6250" y="4162425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6250" y="5029200"/>
            <a:ext cx="25717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6"/>
          <p:cNvSpPr txBox="1"/>
          <p:nvPr/>
        </p:nvSpPr>
        <p:spPr>
          <a:xfrm>
            <a:off x="666750" y="514350"/>
            <a:ext cx="115252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rPr>
              <a:t>MEDIA </a:t>
            </a:r>
            <a:r>
              <a:rPr b="1" i="0" lang="en-US" sz="3600" u="none" cap="none" strike="noStrike">
                <a:solidFill>
                  <a:srgbClr val="66C0F4"/>
                </a:solidFill>
                <a:latin typeface="Rajdhani"/>
                <a:ea typeface="Rajdhani"/>
                <a:cs typeface="Rajdhani"/>
                <a:sym typeface="Rajdhani"/>
              </a:rPr>
              <a:t>FACTORY</a:t>
            </a:r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476250" y="514350"/>
            <a:ext cx="76200" cy="590550"/>
          </a:xfrm>
          <a:prstGeom prst="rect">
            <a:avLst/>
          </a:prstGeom>
          <a:solidFill>
            <a:srgbClr val="66C0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5" name="Google Shape;14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2990850"/>
            <a:ext cx="3555950" cy="3076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17950" y="2990850"/>
            <a:ext cx="3555950" cy="3076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59650" y="2990850"/>
            <a:ext cx="3556099" cy="307657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7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66C0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7"/>
          <p:cNvSpPr txBox="1"/>
          <p:nvPr/>
        </p:nvSpPr>
        <p:spPr>
          <a:xfrm>
            <a:off x="476250" y="2009775"/>
            <a:ext cx="112395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7D5E0"/>
                </a:solidFill>
                <a:latin typeface="Roboto"/>
                <a:ea typeface="Roboto"/>
                <a:cs typeface="Roboto"/>
                <a:sym typeface="Roboto"/>
              </a:rPr>
              <a:t>Comment l'autorité "True Price" renforce l'écosystème AKS.</a:t>
            </a:r>
            <a:endParaRPr/>
          </a:p>
        </p:txBody>
      </p:sp>
      <p:pic>
        <p:nvPicPr>
          <p:cNvPr descr="image.png" id="151" name="Google Shape;151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16025" y="328612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7"/>
          <p:cNvSpPr txBox="1"/>
          <p:nvPr/>
        </p:nvSpPr>
        <p:spPr>
          <a:xfrm>
            <a:off x="1529060" y="3952875"/>
            <a:ext cx="1450181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rPr>
              <a:t>LABEL QUALITÉ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771525" y="4533900"/>
            <a:ext cx="2965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7D5E0"/>
                </a:solidFill>
                <a:latin typeface="Roboto"/>
                <a:ea typeface="Roboto"/>
                <a:cs typeface="Roboto"/>
                <a:sym typeface="Roboto"/>
              </a:rPr>
              <a:t>Badge "True Price Verified" sur AKS. Garantie pour l'utilisateur que le prix affiché est le prix final.</a:t>
            </a:r>
            <a:endParaRPr/>
          </a:p>
        </p:txBody>
      </p:sp>
      <p:pic>
        <p:nvPicPr>
          <p:cNvPr descr="image.png" id="154" name="Google Shape;154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844575" y="5514975"/>
            <a:ext cx="8191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829151" y="3286125"/>
            <a:ext cx="5334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7"/>
          <p:cNvSpPr txBox="1"/>
          <p:nvPr/>
        </p:nvSpPr>
        <p:spPr>
          <a:xfrm>
            <a:off x="5590788" y="3952875"/>
            <a:ext cx="1010126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rPr>
              <a:t>TROPHÉES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4613225" y="4533900"/>
            <a:ext cx="2965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7D5E0"/>
                </a:solidFill>
                <a:latin typeface="Roboto"/>
                <a:ea typeface="Roboto"/>
                <a:cs typeface="Roboto"/>
                <a:sym typeface="Roboto"/>
              </a:rPr>
              <a:t>Awards annuels "Most Honest Merchant". Gamification B2B pour inciter les vendeurs à la transparence.</a:t>
            </a:r>
            <a:endParaRPr/>
          </a:p>
        </p:txBody>
      </p:sp>
      <p:pic>
        <p:nvPicPr>
          <p:cNvPr descr="image.png" id="158" name="Google Shape;158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667226" y="5514975"/>
            <a:ext cx="8572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699575" y="328612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/>
        </p:nvSpPr>
        <p:spPr>
          <a:xfrm>
            <a:off x="9242613" y="3952875"/>
            <a:ext cx="1390173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rPr>
              <a:t>LEADERBOARD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8454925" y="4533900"/>
            <a:ext cx="2965549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7D5E0"/>
                </a:solidFill>
                <a:latin typeface="Roboto"/>
                <a:ea typeface="Roboto"/>
                <a:cs typeface="Roboto"/>
                <a:sym typeface="Roboto"/>
              </a:rPr>
              <a:t>Classement public dynamique des marchands selon leur fiabilité et leurs frais cachés.</a:t>
            </a:r>
            <a:endParaRPr/>
          </a:p>
        </p:txBody>
      </p:sp>
      <p:pic>
        <p:nvPicPr>
          <p:cNvPr descr="image.png" id="162" name="Google Shape;162;p1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504312" y="5514975"/>
            <a:ext cx="866775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666750" y="514350"/>
            <a:ext cx="115252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rPr>
              <a:t>SYNERGIE </a:t>
            </a:r>
            <a:r>
              <a:rPr b="1" i="0" lang="en-US" sz="3600" u="none" cap="none" strike="noStrike">
                <a:solidFill>
                  <a:srgbClr val="66C0F4"/>
                </a:solidFill>
                <a:latin typeface="Rajdhani"/>
                <a:ea typeface="Rajdhani"/>
                <a:cs typeface="Rajdhani"/>
                <a:sym typeface="Rajdhani"/>
              </a:rPr>
              <a:t>ALLKEYSHOP</a:t>
            </a:r>
            <a:endParaRPr/>
          </a:p>
        </p:txBody>
      </p:sp>
      <p:sp>
        <p:nvSpPr>
          <p:cNvPr id="164" name="Google Shape;164;p17"/>
          <p:cNvSpPr/>
          <p:nvPr/>
        </p:nvSpPr>
        <p:spPr>
          <a:xfrm>
            <a:off x="476250" y="514350"/>
            <a:ext cx="76200" cy="590550"/>
          </a:xfrm>
          <a:prstGeom prst="rect">
            <a:avLst/>
          </a:prstGeom>
          <a:solidFill>
            <a:srgbClr val="66C0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9" name="Google Shape;16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5310187"/>
            <a:ext cx="11239500" cy="866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6250" y="1690687"/>
            <a:ext cx="3555950" cy="3238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17950" y="1690687"/>
            <a:ext cx="3555950" cy="3238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59650" y="1690687"/>
            <a:ext cx="3555950" cy="3238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8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66C0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8"/>
          <p:cNvSpPr txBox="1"/>
          <p:nvPr/>
        </p:nvSpPr>
        <p:spPr>
          <a:xfrm>
            <a:off x="476250" y="5700712"/>
            <a:ext cx="11239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C7D5E0"/>
                </a:solidFill>
                <a:latin typeface="Roboto"/>
                <a:ea typeface="Roboto"/>
                <a:cs typeface="Roboto"/>
                <a:sym typeface="Roboto"/>
              </a:rPr>
              <a:t> Evolution : Transition progressive vers une architecture serveur propriétaire (Code custom / Self-hosted) post-MVP.</a:t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697389" y="2767012"/>
            <a:ext cx="311367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rPr>
              <a:t>N8N</a:t>
            </a:r>
            <a:endParaRPr/>
          </a:p>
        </p:txBody>
      </p:sp>
      <p:sp>
        <p:nvSpPr>
          <p:cNvPr id="177" name="Google Shape;177;p18"/>
          <p:cNvSpPr txBox="1"/>
          <p:nvPr/>
        </p:nvSpPr>
        <p:spPr>
          <a:xfrm>
            <a:off x="771525" y="3300412"/>
            <a:ext cx="29654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7D5E0"/>
                </a:solidFill>
                <a:latin typeface="Roboto"/>
                <a:ea typeface="Roboto"/>
                <a:cs typeface="Roboto"/>
                <a:sym typeface="Roboto"/>
              </a:rPr>
              <a:t>Automatisation des workflows de scraping et de vérification des prix (Orchestration).</a:t>
            </a:r>
            <a:endParaRPr/>
          </a:p>
        </p:txBody>
      </p:sp>
      <p:sp>
        <p:nvSpPr>
          <p:cNvPr id="178" name="Google Shape;178;p18"/>
          <p:cNvSpPr txBox="1"/>
          <p:nvPr/>
        </p:nvSpPr>
        <p:spPr>
          <a:xfrm>
            <a:off x="4539090" y="2767012"/>
            <a:ext cx="311367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rPr>
              <a:t>SUPABASE</a:t>
            </a:r>
            <a:endParaRPr/>
          </a:p>
        </p:txBody>
      </p:sp>
      <p:sp>
        <p:nvSpPr>
          <p:cNvPr id="179" name="Google Shape;179;p18"/>
          <p:cNvSpPr txBox="1"/>
          <p:nvPr/>
        </p:nvSpPr>
        <p:spPr>
          <a:xfrm>
            <a:off x="4613225" y="3300412"/>
            <a:ext cx="296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7D5E0"/>
                </a:solidFill>
                <a:latin typeface="Roboto"/>
                <a:ea typeface="Roboto"/>
                <a:cs typeface="Roboto"/>
                <a:sym typeface="Roboto"/>
              </a:rPr>
              <a:t>Base de données PostgreSQL temps réel pour stocker l'historique des prix et scores de confiance.</a:t>
            </a:r>
            <a:endParaRPr/>
          </a:p>
        </p:txBody>
      </p:sp>
      <p:sp>
        <p:nvSpPr>
          <p:cNvPr id="180" name="Google Shape;180;p18"/>
          <p:cNvSpPr txBox="1"/>
          <p:nvPr/>
        </p:nvSpPr>
        <p:spPr>
          <a:xfrm>
            <a:off x="8380790" y="2767012"/>
            <a:ext cx="311367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rPr>
              <a:t>STREAMLIT</a:t>
            </a:r>
            <a:endParaRPr/>
          </a:p>
        </p:txBody>
      </p:sp>
      <p:sp>
        <p:nvSpPr>
          <p:cNvPr id="181" name="Google Shape;181;p18"/>
          <p:cNvSpPr txBox="1"/>
          <p:nvPr/>
        </p:nvSpPr>
        <p:spPr>
          <a:xfrm>
            <a:off x="8454925" y="3300412"/>
            <a:ext cx="29654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7D5E0"/>
                </a:solidFill>
                <a:latin typeface="Roboto"/>
                <a:ea typeface="Roboto"/>
                <a:cs typeface="Roboto"/>
                <a:sym typeface="Roboto"/>
              </a:rPr>
              <a:t>Frontend rapide pour le Dashboard MVP et la visualisation des données d'audit.</a:t>
            </a:r>
            <a:endParaRPr/>
          </a:p>
        </p:txBody>
      </p:sp>
      <p:pic>
        <p:nvPicPr>
          <p:cNvPr descr="image.png" id="182" name="Google Shape;182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109662" y="5748337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054125" y="2014537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1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895826" y="2014537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1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708951" y="2014537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8"/>
          <p:cNvSpPr txBox="1"/>
          <p:nvPr/>
        </p:nvSpPr>
        <p:spPr>
          <a:xfrm>
            <a:off x="666750" y="514350"/>
            <a:ext cx="115252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rPr>
              <a:t>ARCHITECTURE </a:t>
            </a:r>
            <a:r>
              <a:rPr b="1" i="0" lang="en-US" sz="3600" u="none" cap="none" strike="noStrike">
                <a:solidFill>
                  <a:srgbClr val="66C0F4"/>
                </a:solidFill>
                <a:latin typeface="Rajdhani"/>
                <a:ea typeface="Rajdhani"/>
                <a:cs typeface="Rajdhani"/>
                <a:sym typeface="Rajdhani"/>
              </a:rPr>
              <a:t>TECHNIQUE</a:t>
            </a:r>
            <a:endParaRPr/>
          </a:p>
        </p:txBody>
      </p:sp>
      <p:sp>
        <p:nvSpPr>
          <p:cNvPr id="187" name="Google Shape;187;p18"/>
          <p:cNvSpPr/>
          <p:nvPr/>
        </p:nvSpPr>
        <p:spPr>
          <a:xfrm>
            <a:off x="476250" y="514350"/>
            <a:ext cx="76200" cy="590550"/>
          </a:xfrm>
          <a:prstGeom prst="rect">
            <a:avLst/>
          </a:prstGeom>
          <a:solidFill>
            <a:srgbClr val="66C0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2" name="Google Shape;19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14500" y="3305621"/>
            <a:ext cx="1905000" cy="16374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00500" y="3305621"/>
            <a:ext cx="1905000" cy="16374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3305621"/>
            <a:ext cx="1905000" cy="16374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572500" y="3305621"/>
            <a:ext cx="1905000" cy="1637407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9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66C0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9"/>
          <p:cNvSpPr/>
          <p:nvPr/>
        </p:nvSpPr>
        <p:spPr>
          <a:xfrm>
            <a:off x="1600200" y="4114800"/>
            <a:ext cx="8991600" cy="19050"/>
          </a:xfrm>
          <a:prstGeom prst="rect">
            <a:avLst/>
          </a:prstGeom>
          <a:solidFill>
            <a:srgbClr val="417A9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9"/>
          <p:cNvSpPr txBox="1"/>
          <p:nvPr/>
        </p:nvSpPr>
        <p:spPr>
          <a:xfrm>
            <a:off x="2096928" y="3857178"/>
            <a:ext cx="1140142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6C0F4"/>
                </a:solidFill>
                <a:latin typeface="Rajdhani"/>
                <a:ea typeface="Rajdhani"/>
                <a:cs typeface="Rajdhani"/>
                <a:sym typeface="Rajdhani"/>
              </a:rPr>
              <a:t>JANVIER 26</a:t>
            </a:r>
            <a:endParaRPr/>
          </a:p>
        </p:txBody>
      </p:sp>
      <p:sp>
        <p:nvSpPr>
          <p:cNvPr id="200" name="Google Shape;200;p19"/>
          <p:cNvSpPr txBox="1"/>
          <p:nvPr/>
        </p:nvSpPr>
        <p:spPr>
          <a:xfrm>
            <a:off x="2138362" y="4238178"/>
            <a:ext cx="10572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7D5E0"/>
                </a:solidFill>
                <a:latin typeface="Roboto"/>
                <a:ea typeface="Roboto"/>
                <a:cs typeface="Roboto"/>
                <a:sym typeface="Roboto"/>
              </a:rPr>
              <a:t>Lancement Ops</a:t>
            </a:r>
            <a:endParaRPr/>
          </a:p>
        </p:txBody>
      </p:sp>
      <p:sp>
        <p:nvSpPr>
          <p:cNvPr id="201" name="Google Shape;201;p19"/>
          <p:cNvSpPr txBox="1"/>
          <p:nvPr/>
        </p:nvSpPr>
        <p:spPr>
          <a:xfrm>
            <a:off x="4427934" y="3857178"/>
            <a:ext cx="1050131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6C0F4"/>
                </a:solidFill>
                <a:latin typeface="Rajdhani"/>
                <a:ea typeface="Rajdhani"/>
                <a:cs typeface="Rajdhani"/>
                <a:sym typeface="Rajdhani"/>
              </a:rPr>
              <a:t>15 FÉVRIER</a:t>
            </a:r>
            <a:endParaRPr/>
          </a:p>
        </p:txBody>
      </p:sp>
      <p:sp>
        <p:nvSpPr>
          <p:cNvPr id="202" name="Google Shape;202;p19"/>
          <p:cNvSpPr txBox="1"/>
          <p:nvPr/>
        </p:nvSpPr>
        <p:spPr>
          <a:xfrm>
            <a:off x="4410075" y="4238178"/>
            <a:ext cx="10858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7D5E0"/>
                </a:solidFill>
                <a:latin typeface="Roboto"/>
                <a:ea typeface="Roboto"/>
                <a:cs typeface="Roboto"/>
                <a:sym typeface="Roboto"/>
              </a:rPr>
              <a:t>MVP PILOTE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C7D5E0"/>
                </a:solidFill>
                <a:latin typeface="Roboto"/>
                <a:ea typeface="Roboto"/>
                <a:cs typeface="Roboto"/>
                <a:sym typeface="Roboto"/>
              </a:rPr>
              <a:t> Moteur + 3 Jeux</a:t>
            </a:r>
            <a:endParaRPr/>
          </a:p>
        </p:txBody>
      </p:sp>
      <p:sp>
        <p:nvSpPr>
          <p:cNvPr id="203" name="Google Shape;203;p19"/>
          <p:cNvSpPr txBox="1"/>
          <p:nvPr/>
        </p:nvSpPr>
        <p:spPr>
          <a:xfrm>
            <a:off x="6808946" y="3857178"/>
            <a:ext cx="86010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6C0F4"/>
                </a:solidFill>
                <a:latin typeface="Rajdhani"/>
                <a:ea typeface="Rajdhani"/>
                <a:cs typeface="Rajdhani"/>
                <a:sym typeface="Rajdhani"/>
              </a:rPr>
              <a:t>AVRIL 26</a:t>
            </a:r>
            <a:endParaRPr/>
          </a:p>
        </p:txBody>
      </p:sp>
      <p:sp>
        <p:nvSpPr>
          <p:cNvPr id="204" name="Google Shape;204;p19"/>
          <p:cNvSpPr txBox="1"/>
          <p:nvPr/>
        </p:nvSpPr>
        <p:spPr>
          <a:xfrm>
            <a:off x="6753225" y="4238178"/>
            <a:ext cx="9715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7D5E0"/>
                </a:solidFill>
                <a:latin typeface="Roboto"/>
                <a:ea typeface="Roboto"/>
                <a:cs typeface="Roboto"/>
                <a:sym typeface="Roboto"/>
              </a:rPr>
              <a:t>Media Factory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C7D5E0"/>
                </a:solidFill>
                <a:latin typeface="Roboto"/>
                <a:ea typeface="Roboto"/>
                <a:cs typeface="Roboto"/>
                <a:sym typeface="Roboto"/>
              </a:rPr>
              <a:t> Scale Contenu</a:t>
            </a:r>
            <a:endParaRPr/>
          </a:p>
        </p:txBody>
      </p:sp>
      <p:sp>
        <p:nvSpPr>
          <p:cNvPr id="205" name="Google Shape;205;p19"/>
          <p:cNvSpPr txBox="1"/>
          <p:nvPr/>
        </p:nvSpPr>
        <p:spPr>
          <a:xfrm>
            <a:off x="9219961" y="3857178"/>
            <a:ext cx="610076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6C0F4"/>
                </a:solidFill>
                <a:latin typeface="Rajdhani"/>
                <a:ea typeface="Rajdhani"/>
                <a:cs typeface="Rajdhani"/>
                <a:sym typeface="Rajdhani"/>
              </a:rPr>
              <a:t>15 MAI</a:t>
            </a:r>
            <a:endParaRPr/>
          </a:p>
        </p:txBody>
      </p:sp>
      <p:sp>
        <p:nvSpPr>
          <p:cNvPr id="206" name="Google Shape;206;p19"/>
          <p:cNvSpPr txBox="1"/>
          <p:nvPr/>
        </p:nvSpPr>
        <p:spPr>
          <a:xfrm>
            <a:off x="8967787" y="4238178"/>
            <a:ext cx="11144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7D5E0"/>
                </a:solidFill>
                <a:latin typeface="Roboto"/>
                <a:ea typeface="Roboto"/>
                <a:cs typeface="Roboto"/>
                <a:sym typeface="Roboto"/>
              </a:rPr>
              <a:t>LIVRAISON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C7D5E0"/>
                </a:solidFill>
                <a:latin typeface="Roboto"/>
                <a:ea typeface="Roboto"/>
                <a:cs typeface="Roboto"/>
                <a:sym typeface="Roboto"/>
              </a:rPr>
              <a:t> Dashboard Final</a:t>
            </a:r>
            <a:endParaRPr/>
          </a:p>
        </p:txBody>
      </p:sp>
      <p:sp>
        <p:nvSpPr>
          <p:cNvPr id="207" name="Google Shape;207;p19"/>
          <p:cNvSpPr txBox="1"/>
          <p:nvPr/>
        </p:nvSpPr>
        <p:spPr>
          <a:xfrm>
            <a:off x="238125" y="514350"/>
            <a:ext cx="117157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rPr>
              <a:t>ROADMAP </a:t>
            </a:r>
            <a:r>
              <a:rPr b="1" i="0" lang="en-US" sz="3600" u="none" cap="none" strike="noStrike">
                <a:solidFill>
                  <a:srgbClr val="66C0F4"/>
                </a:solidFill>
                <a:latin typeface="Rajdhani"/>
                <a:ea typeface="Rajdhani"/>
                <a:cs typeface="Rajdhani"/>
                <a:sym typeface="Rajdhani"/>
              </a:rPr>
              <a:t>2026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2" name="Google Shape;21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1485900"/>
            <a:ext cx="11239500" cy="489585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0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66C0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0"/>
          <p:cNvSpPr txBox="1"/>
          <p:nvPr/>
        </p:nvSpPr>
        <p:spPr>
          <a:xfrm>
            <a:off x="666750" y="514350"/>
            <a:ext cx="115252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rPr>
              <a:t>RÉSUMÉ </a:t>
            </a:r>
            <a:r>
              <a:rPr b="1" i="0" lang="en-US" sz="3600" u="none" cap="none" strike="noStrike">
                <a:solidFill>
                  <a:srgbClr val="66C0F4"/>
                </a:solidFill>
                <a:latin typeface="Rajdhani"/>
                <a:ea typeface="Rajdhani"/>
                <a:cs typeface="Rajdhani"/>
                <a:sym typeface="Rajdhani"/>
              </a:rPr>
              <a:t>DU PROJET</a:t>
            </a:r>
            <a:endParaRPr/>
          </a:p>
        </p:txBody>
      </p:sp>
      <p:sp>
        <p:nvSpPr>
          <p:cNvPr id="216" name="Google Shape;216;p20"/>
          <p:cNvSpPr/>
          <p:nvPr/>
        </p:nvSpPr>
        <p:spPr>
          <a:xfrm>
            <a:off x="476250" y="514350"/>
            <a:ext cx="76200" cy="590550"/>
          </a:xfrm>
          <a:prstGeom prst="rect">
            <a:avLst/>
          </a:prstGeom>
          <a:solidFill>
            <a:srgbClr val="66C0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1" name="Google Shape;22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1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66C0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1"/>
          <p:cNvSpPr txBox="1"/>
          <p:nvPr/>
        </p:nvSpPr>
        <p:spPr>
          <a:xfrm>
            <a:off x="238125" y="514350"/>
            <a:ext cx="117157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66C0F4"/>
                </a:solidFill>
                <a:latin typeface="Rajdhani"/>
                <a:ea typeface="Rajdhani"/>
                <a:cs typeface="Rajdhani"/>
                <a:sym typeface="Rajdhani"/>
              </a:rPr>
              <a:t>QUESTIONS ?</a:t>
            </a:r>
            <a:endParaRPr/>
          </a:p>
        </p:txBody>
      </p:sp>
      <p:sp>
        <p:nvSpPr>
          <p:cNvPr id="224" name="Google Shape;224;p21"/>
          <p:cNvSpPr txBox="1"/>
          <p:nvPr/>
        </p:nvSpPr>
        <p:spPr>
          <a:xfrm>
            <a:off x="476250" y="2019300"/>
            <a:ext cx="11239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66C0F4"/>
                </a:solidFill>
                <a:latin typeface="Roboto"/>
                <a:ea typeface="Roboto"/>
                <a:cs typeface="Roboto"/>
                <a:sym typeface="Roboto"/>
              </a:rPr>
              <a:t>TRUE PRICE AUTHORITY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9" name="Google Shape;22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66C0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2"/>
          <p:cNvSpPr/>
          <p:nvPr/>
        </p:nvSpPr>
        <p:spPr>
          <a:xfrm>
            <a:off x="476250" y="2781300"/>
            <a:ext cx="112395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2"/>
          <p:cNvSpPr/>
          <p:nvPr/>
        </p:nvSpPr>
        <p:spPr>
          <a:xfrm>
            <a:off x="476250" y="3552825"/>
            <a:ext cx="112395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2"/>
          <p:cNvSpPr/>
          <p:nvPr/>
        </p:nvSpPr>
        <p:spPr>
          <a:xfrm>
            <a:off x="476250" y="3543300"/>
            <a:ext cx="112395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2"/>
          <p:cNvSpPr/>
          <p:nvPr/>
        </p:nvSpPr>
        <p:spPr>
          <a:xfrm>
            <a:off x="476250" y="3543300"/>
            <a:ext cx="112395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2"/>
          <p:cNvSpPr/>
          <p:nvPr/>
        </p:nvSpPr>
        <p:spPr>
          <a:xfrm>
            <a:off x="476250" y="4314825"/>
            <a:ext cx="112395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2"/>
          <p:cNvSpPr/>
          <p:nvPr/>
        </p:nvSpPr>
        <p:spPr>
          <a:xfrm>
            <a:off x="476250" y="4314825"/>
            <a:ext cx="112395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37" name="Google Shape;23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292417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2"/>
          <p:cNvSpPr txBox="1"/>
          <p:nvPr/>
        </p:nvSpPr>
        <p:spPr>
          <a:xfrm>
            <a:off x="1571625" y="2931318"/>
            <a:ext cx="101441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7D5E0"/>
                </a:solidFill>
                <a:latin typeface="Roboto"/>
                <a:ea typeface="Roboto"/>
                <a:cs typeface="Roboto"/>
                <a:sym typeface="Roboto"/>
              </a:rPr>
              <a:t>https://images.stockcake.com/public/0/9/5/0958b919-fd0b-4e9a-851b-56c0573a6e79_large/code-under-magnification-stockcake.jpg</a:t>
            </a:r>
            <a:endParaRPr/>
          </a:p>
        </p:txBody>
      </p:sp>
      <p:sp>
        <p:nvSpPr>
          <p:cNvPr id="239" name="Google Shape;239;p22"/>
          <p:cNvSpPr txBox="1"/>
          <p:nvPr/>
        </p:nvSpPr>
        <p:spPr>
          <a:xfrm>
            <a:off x="1571625" y="3164681"/>
            <a:ext cx="101441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7D5E0"/>
                </a:solidFill>
                <a:latin typeface="Roboto"/>
                <a:ea typeface="Roboto"/>
                <a:cs typeface="Roboto"/>
                <a:sym typeface="Robo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Roboto"/>
                <a:ea typeface="Roboto"/>
                <a:cs typeface="Roboto"/>
                <a:sym typeface="Roboto"/>
              </a:rPr>
              <a:t>stockcake.com</a:t>
            </a:r>
            <a:endParaRPr/>
          </a:p>
        </p:txBody>
      </p:sp>
      <p:pic>
        <p:nvPicPr>
          <p:cNvPr descr="image.png" id="240" name="Google Shape;240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6250" y="369570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2"/>
          <p:cNvSpPr txBox="1"/>
          <p:nvPr/>
        </p:nvSpPr>
        <p:spPr>
          <a:xfrm>
            <a:off x="1571625" y="3702843"/>
            <a:ext cx="101441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7D5E0"/>
                </a:solidFill>
                <a:latin typeface="Roboto"/>
                <a:ea typeface="Roboto"/>
                <a:cs typeface="Roboto"/>
                <a:sym typeface="Roboto"/>
              </a:rPr>
              <a:t>https://cdn.shopify.com/s/files/1/0635/2040/7793/files/micro_rgbcw_spectra.jpg?v=1751363627</a:t>
            </a:r>
            <a:endParaRPr/>
          </a:p>
        </p:txBody>
      </p:sp>
      <p:sp>
        <p:nvSpPr>
          <p:cNvPr id="242" name="Google Shape;242;p22"/>
          <p:cNvSpPr txBox="1"/>
          <p:nvPr/>
        </p:nvSpPr>
        <p:spPr>
          <a:xfrm>
            <a:off x="1571625" y="3936206"/>
            <a:ext cx="101441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7D5E0"/>
                </a:solidFill>
                <a:latin typeface="Roboto"/>
                <a:ea typeface="Roboto"/>
                <a:cs typeface="Roboto"/>
                <a:sym typeface="Robo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Roboto"/>
                <a:ea typeface="Roboto"/>
                <a:cs typeface="Roboto"/>
                <a:sym typeface="Roboto"/>
              </a:rPr>
              <a:t>www.harlowe.com</a:t>
            </a:r>
            <a:endParaRPr/>
          </a:p>
        </p:txBody>
      </p:sp>
      <p:pic>
        <p:nvPicPr>
          <p:cNvPr descr="image.png" id="243" name="Google Shape;243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6250" y="446722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2"/>
          <p:cNvSpPr txBox="1"/>
          <p:nvPr/>
        </p:nvSpPr>
        <p:spPr>
          <a:xfrm>
            <a:off x="1571625" y="4474368"/>
            <a:ext cx="101441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7D5E0"/>
                </a:solidFill>
                <a:latin typeface="Roboto"/>
                <a:ea typeface="Roboto"/>
                <a:cs typeface="Roboto"/>
                <a:sym typeface="Roboto"/>
              </a:rPr>
              <a:t>https://provencrypto.com/wp-content/uploads/thrill-casino-1024x491.png</a:t>
            </a:r>
            <a:endParaRPr/>
          </a:p>
        </p:txBody>
      </p:sp>
      <p:sp>
        <p:nvSpPr>
          <p:cNvPr id="245" name="Google Shape;245;p22"/>
          <p:cNvSpPr txBox="1"/>
          <p:nvPr/>
        </p:nvSpPr>
        <p:spPr>
          <a:xfrm>
            <a:off x="1571625" y="4707731"/>
            <a:ext cx="101441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7D5E0"/>
                </a:solidFill>
                <a:latin typeface="Roboto"/>
                <a:ea typeface="Roboto"/>
                <a:cs typeface="Roboto"/>
                <a:sym typeface="Robo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Roboto"/>
                <a:ea typeface="Roboto"/>
                <a:cs typeface="Roboto"/>
                <a:sym typeface="Roboto"/>
              </a:rPr>
              <a:t>provencrypto.com</a:t>
            </a:r>
            <a:endParaRPr/>
          </a:p>
        </p:txBody>
      </p:sp>
      <p:sp>
        <p:nvSpPr>
          <p:cNvPr id="246" name="Google Shape;246;p22"/>
          <p:cNvSpPr txBox="1"/>
          <p:nvPr/>
        </p:nvSpPr>
        <p:spPr>
          <a:xfrm>
            <a:off x="666750" y="514350"/>
            <a:ext cx="115252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rPr>
              <a:t>IMAGE SOURCES</a:t>
            </a:r>
            <a:endParaRPr/>
          </a:p>
        </p:txBody>
      </p:sp>
      <p:sp>
        <p:nvSpPr>
          <p:cNvPr id="247" name="Google Shape;247;p22"/>
          <p:cNvSpPr/>
          <p:nvPr/>
        </p:nvSpPr>
        <p:spPr>
          <a:xfrm>
            <a:off x="476250" y="514350"/>
            <a:ext cx="76200" cy="590550"/>
          </a:xfrm>
          <a:prstGeom prst="rect">
            <a:avLst/>
          </a:prstGeom>
          <a:solidFill>
            <a:srgbClr val="66C0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